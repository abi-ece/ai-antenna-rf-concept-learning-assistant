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75" d="100"/>
          <a:sy n="75" d="100"/>
        </p:scale>
        <p:origin x="931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C1D724-CD17-0A9B-3D92-60C4380C4A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C97539-CD1B-29D3-11F3-9A057E46B0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2886E-E650-270B-A300-5F81DCEF6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90F1-CB91-4D66-B990-CB1F03F4E885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47452-B0F3-CA97-BFEF-8D89EF3C5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87696-21DD-5C2E-C1B9-4730B7CA1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40F8D-C399-474D-B76D-0DA4A9D6F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612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006AB-07BF-D14B-391A-5EE1DF1AE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52D7C-9590-2EBD-107A-A83224528F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FAD040-6083-E489-E674-4C45F6044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90F1-CB91-4D66-B990-CB1F03F4E885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13DA8-B148-8C89-4024-B01CC82EA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132A6-83C2-BF13-016A-29C92CFD19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40F8D-C399-474D-B76D-0DA4A9D6F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879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51E98-E7AE-6928-F280-59CB922CD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BE3D47-2E8C-34E3-F4A6-A5AEC4359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06FFA-6061-5CD1-E2AB-DB57EAFA9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90F1-CB91-4D66-B990-CB1F03F4E885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DB970-849F-9AEB-EE07-683F07BC7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70966-218E-8EF3-6EAF-D6964380D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40F8D-C399-474D-B76D-0DA4A9D6F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810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0191D-2866-5898-5FC2-024468079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AB3A0-3D2B-FDBD-7537-B5B8B98543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F29574-7BEF-4C7A-4018-00E39A89A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955F80-C81C-11D0-4714-C2DA76F56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90F1-CB91-4D66-B990-CB1F03F4E885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56FF5D-1D87-FBA2-ECCB-C2168BCF1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5CE84C-05D8-E119-2175-9233F142D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40F8D-C399-474D-B76D-0DA4A9D6F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23293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56115-A3A4-6058-DE9F-C42095DD5A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68EC2C-4BEA-2B11-E677-E4207D12E8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1491C-B616-FFF5-BC76-7E55B06FE9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C96D01-DF9D-8C80-0757-7DE7A28BE2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CD2261-195F-F7B6-FE95-825934899C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7D6A46-DB04-34B4-2202-DF3F11E057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90F1-CB91-4D66-B990-CB1F03F4E885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2C5905-4BA8-C1C8-8E6C-67DD35871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5529ECE-38BC-A9D4-8334-3E593ED55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40F8D-C399-474D-B76D-0DA4A9D6F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9605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F2029-5829-7505-0A38-917FCBA39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67C106-A085-87D4-4F67-3D8B7D266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90F1-CB91-4D66-B990-CB1F03F4E885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77631-8ED0-8AC2-91E4-7C1A07C5A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22565E-3F78-F998-714B-5A361D20C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40F8D-C399-474D-B76D-0DA4A9D6F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33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7F0766-5E58-2171-4698-F3FF95729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90F1-CB91-4D66-B990-CB1F03F4E885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37BFDA-B7B8-324C-ECC8-18E85889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69505C-CC94-91A7-0AC2-DC32CE1C8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40F8D-C399-474D-B76D-0DA4A9D6F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3668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11933-233B-0C70-5A59-E737CF421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81F52-D0E3-A64E-1BB0-64A932525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0F0590-1BF7-F033-6F6F-BA1ABFC73E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B84ECA-7B9B-00E4-5501-0D6DCABCC1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90F1-CB91-4D66-B990-CB1F03F4E885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654C1E-962F-10E9-AA23-32A5923BA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47B1A4-5EF1-240B-8FC7-F811A6C24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40F8D-C399-474D-B76D-0DA4A9D6F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66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E25C2-AB60-481B-2A71-3540A3481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EF3932F-A260-0670-1118-DFA7B14419D7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CDEAAB-F845-E775-8962-FF86912C2F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3D8372-7235-DDC0-9167-5382B0697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90F1-CB91-4D66-B990-CB1F03F4E885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5AEF93-1582-AB6C-2CF2-CDFD660AB9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72B79-0AAC-7FF9-FE21-2BC37BB85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40F8D-C399-474D-B76D-0DA4A9D6F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4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8CC26-3FBC-315A-8345-3C197629A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8ABA12-75C7-CCE9-E6E0-7AB470430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4CB892-8C02-5824-B699-9CF63BBC8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90F1-CB91-4D66-B990-CB1F03F4E885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2EC37-9CE3-A2C3-2A08-BE4AD5D09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E21D11-3655-F97C-8B82-2E601FB27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40F8D-C399-474D-B76D-0DA4A9D6F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9791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F99603-6453-DCCD-11AA-39CD88B046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7964F0-A17B-6117-2186-6AC01AFDD4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88F30-27E5-7FC3-DA34-506E94CBD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BA90F1-CB91-4D66-B990-CB1F03F4E885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8E5F30-CAEF-3B34-91AD-1F11879EC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E4E622-DF90-E2AB-5634-7475BC4EA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040F8D-C399-474D-B76D-0DA4A9D6F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3886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07AADB-F5FB-691B-7A25-0CDAA047C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B412F-FBC2-570D-3593-74F6C5B31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AE721-DD5F-B5A6-096C-CC773F6775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BA90F1-CB91-4D66-B990-CB1F03F4E885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6D268-0508-7246-A549-C3E35D7A31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38B753-2AE5-473A-D17E-9A35F8C4FC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040F8D-C399-474D-B76D-0DA4A9D6FDD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455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8645D-57FF-7F1D-C252-66F2AA6E0F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655762"/>
          </a:xfrm>
        </p:spPr>
        <p:txBody>
          <a:bodyPr>
            <a:normAutofit fontScale="90000"/>
          </a:bodyPr>
          <a:lstStyle/>
          <a:p>
            <a:r>
              <a:rPr lang="en-IN" dirty="0"/>
              <a:t>AI Antenna and RF Concept Learning Assistant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4A17795-A3B0-545B-3C23-88B5E631F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5894" y="3819646"/>
            <a:ext cx="9664860" cy="1438154"/>
          </a:xfrm>
        </p:spPr>
        <p:txBody>
          <a:bodyPr/>
          <a:lstStyle/>
          <a:p>
            <a:r>
              <a:rPr lang="en-IN" dirty="0"/>
              <a:t>ECE Project Presentation</a:t>
            </a:r>
          </a:p>
        </p:txBody>
      </p:sp>
    </p:spTree>
    <p:extLst>
      <p:ext uri="{BB962C8B-B14F-4D97-AF65-F5344CB8AC3E}">
        <p14:creationId xmlns:p14="http://schemas.microsoft.com/office/powerpoint/2010/main" val="1679768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FD625C-1E5E-A82E-6090-AA18DDC30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4560" y="731520"/>
            <a:ext cx="9530080" cy="558800"/>
          </a:xfrm>
        </p:spPr>
        <p:txBody>
          <a:bodyPr>
            <a:normAutofit fontScale="90000"/>
          </a:bodyPr>
          <a:lstStyle/>
          <a:p>
            <a:r>
              <a:rPr lang="en-IN" dirty="0"/>
              <a:t>Introduction to Antenna and RF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FCFA7-CB47-88D2-0C94-D7425B560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880" y="1879600"/>
            <a:ext cx="10515600" cy="4246880"/>
          </a:xfrm>
        </p:spPr>
        <p:txBody>
          <a:bodyPr/>
          <a:lstStyle/>
          <a:p>
            <a:r>
              <a:rPr lang="en-IN" dirty="0"/>
              <a:t>Introduction to Antenna and RF</a:t>
            </a:r>
          </a:p>
          <a:p>
            <a:pPr lvl="0"/>
            <a:r>
              <a:rPr lang="en-IN" dirty="0"/>
              <a:t>RF stands for Radio Frequency.</a:t>
            </a:r>
          </a:p>
          <a:p>
            <a:pPr lvl="0"/>
            <a:r>
              <a:rPr lang="en-IN" dirty="0"/>
              <a:t>RF signals are used for wireless communication.</a:t>
            </a:r>
          </a:p>
          <a:p>
            <a:pPr lvl="0"/>
            <a:r>
              <a:rPr lang="en-IN" dirty="0"/>
              <a:t>An antenna transmits and receives electromagnetic waves.</a:t>
            </a:r>
          </a:p>
          <a:p>
            <a:pPr lvl="0"/>
            <a:r>
              <a:rPr lang="en-IN" dirty="0"/>
              <a:t>Antennas are used in Wi-Fi, mobile phones, radar and satellite communication.</a:t>
            </a:r>
          </a:p>
          <a:p>
            <a:pPr lvl="0"/>
            <a:r>
              <a:rPr lang="en-IN" dirty="0"/>
              <a:t>Understanding antenna concepts helps in designing reliable wireless systems.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5013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BE144-6EC7-426B-B865-7778D1E64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9120" y="833120"/>
            <a:ext cx="9504680" cy="538480"/>
          </a:xfrm>
        </p:spPr>
        <p:txBody>
          <a:bodyPr>
            <a:normAutofit fontScale="90000"/>
          </a:bodyPr>
          <a:lstStyle/>
          <a:p>
            <a:r>
              <a:rPr lang="en-IN" dirty="0"/>
              <a:t>Dipole Antenna and Antenna Gain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DC220-0B90-4602-920F-CC9EF191A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/>
              <a:t>Dipole Antenna and Antenna Gain</a:t>
            </a:r>
          </a:p>
          <a:p>
            <a:r>
              <a:rPr lang="en-IN" dirty="0"/>
              <a:t>Dipole Antenna:</a:t>
            </a:r>
          </a:p>
          <a:p>
            <a:pPr lvl="0"/>
            <a:r>
              <a:rPr lang="en-IN" dirty="0"/>
              <a:t>A dipole antenna has two conductive arms.</a:t>
            </a:r>
          </a:p>
          <a:p>
            <a:pPr lvl="0"/>
            <a:r>
              <a:rPr lang="en-IN" dirty="0"/>
              <a:t>A half-wave dipole has an approximate total length of λ/2.</a:t>
            </a:r>
          </a:p>
          <a:p>
            <a:pPr lvl="0"/>
            <a:r>
              <a:rPr lang="en-IN" dirty="0"/>
              <a:t>Wavelength is calculated using λ = c/f.</a:t>
            </a:r>
          </a:p>
          <a:p>
            <a:r>
              <a:rPr lang="en-IN" dirty="0"/>
              <a:t>Antenna Gain:</a:t>
            </a:r>
          </a:p>
          <a:p>
            <a:pPr lvl="0"/>
            <a:r>
              <a:rPr lang="en-IN" dirty="0"/>
              <a:t>Antenna gain describes how effectively an antenna directs radio-frequency energy in a particular direction.</a:t>
            </a:r>
          </a:p>
          <a:p>
            <a:pPr lvl="0"/>
            <a:r>
              <a:rPr lang="en-IN" dirty="0"/>
              <a:t>Gain is commonly expressed in </a:t>
            </a:r>
            <a:r>
              <a:rPr lang="en-IN" dirty="0" err="1"/>
              <a:t>dBi</a:t>
            </a:r>
            <a:r>
              <a:rPr lang="en-IN" dirty="0"/>
              <a:t>.</a:t>
            </a:r>
          </a:p>
          <a:p>
            <a:pPr lvl="0"/>
            <a:r>
              <a:rPr lang="en-IN" dirty="0"/>
              <a:t>Gain depends on antenna directivity and efficiency.</a:t>
            </a:r>
          </a:p>
          <a:p>
            <a:r>
              <a:rPr lang="en-IN" dirty="0"/>
              <a:t>Example:</a:t>
            </a:r>
            <a:br>
              <a:rPr lang="en-IN" dirty="0"/>
            </a:br>
            <a:r>
              <a:rPr lang="en-IN" dirty="0"/>
              <a:t>At 300 MHz, wavelength λ = 1 m.</a:t>
            </a:r>
            <a:br>
              <a:rPr lang="en-IN" dirty="0"/>
            </a:br>
            <a:r>
              <a:rPr lang="en-IN" dirty="0"/>
              <a:t>Approximate half-wave dipole length = 0.5 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3517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1E2CE-2973-154B-40F4-E5D8E33426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5360" y="436880"/>
            <a:ext cx="9108440" cy="386080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Impedance Matching and VSWR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A1727E-0D04-60FA-AC69-F3B9B08BD7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Impedance Matching and VSWR</a:t>
            </a:r>
          </a:p>
          <a:p>
            <a:r>
              <a:rPr lang="en-IN" dirty="0"/>
              <a:t>Impedance Matching:</a:t>
            </a:r>
          </a:p>
          <a:p>
            <a:pPr lvl="0"/>
            <a:r>
              <a:rPr lang="en-IN" dirty="0"/>
              <a:t>It helps reduce signal reflections in an RF system.</a:t>
            </a:r>
          </a:p>
          <a:p>
            <a:pPr lvl="0"/>
            <a:r>
              <a:rPr lang="en-IN" dirty="0"/>
              <a:t>Proper matching improves power transfer.</a:t>
            </a:r>
          </a:p>
          <a:p>
            <a:r>
              <a:rPr lang="en-IN" dirty="0"/>
              <a:t>VSWR:</a:t>
            </a:r>
          </a:p>
          <a:p>
            <a:pPr lvl="0"/>
            <a:r>
              <a:rPr lang="en-IN" dirty="0"/>
              <a:t>VSWR stands for Voltage Standing Wave Ratio.</a:t>
            </a:r>
          </a:p>
          <a:p>
            <a:pPr lvl="0"/>
            <a:r>
              <a:rPr lang="en-IN" dirty="0"/>
              <a:t>It indicates the level of impedance mismatch.</a:t>
            </a:r>
          </a:p>
          <a:p>
            <a:pPr lvl="0"/>
            <a:r>
              <a:rPr lang="en-IN" dirty="0"/>
              <a:t>A VSWR of 1:1 indicates a perfect match.</a:t>
            </a:r>
          </a:p>
          <a:p>
            <a:r>
              <a:rPr lang="en-IN" dirty="0"/>
              <a:t>Formula:</a:t>
            </a:r>
            <a:br>
              <a:rPr lang="en-IN" dirty="0"/>
            </a:br>
            <a:r>
              <a:rPr lang="en-IN" dirty="0"/>
              <a:t>VSWR = (1 + |Γ|) / (1 - |Γ|)</a:t>
            </a:r>
          </a:p>
          <a:p>
            <a:r>
              <a:rPr lang="en-IN" dirty="0"/>
              <a:t>Example:</a:t>
            </a:r>
            <a:br>
              <a:rPr lang="en-IN" dirty="0"/>
            </a:br>
            <a:r>
              <a:rPr lang="en-IN" dirty="0"/>
              <a:t>If |Γ| = 0.2,</a:t>
            </a:r>
          </a:p>
          <a:p>
            <a:r>
              <a:rPr lang="en-IN" dirty="0"/>
              <a:t>VSWR = (1 + 0.2) / (1 - 0.2)</a:t>
            </a:r>
            <a:br>
              <a:rPr lang="en-IN" dirty="0"/>
            </a:br>
            <a:r>
              <a:rPr lang="en-IN" dirty="0"/>
              <a:t>VSWR = 1.5:1</a:t>
            </a:r>
          </a:p>
          <a:p>
            <a:r>
              <a:rPr lang="en-IN" dirty="0"/>
              <a:t>Conclusion:</a:t>
            </a:r>
            <a:br>
              <a:rPr lang="en-IN" dirty="0"/>
            </a:br>
            <a:r>
              <a:rPr lang="en-IN" dirty="0"/>
              <a:t>Lower VSWR generally indicates better impedance matching.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06753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83DEF-7810-AF29-BB85-90A605923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0" y="365125"/>
            <a:ext cx="7421880" cy="1311275"/>
          </a:xfrm>
        </p:spPr>
        <p:txBody>
          <a:bodyPr/>
          <a:lstStyle/>
          <a:p>
            <a:r>
              <a:rPr lang="en-IN" dirty="0"/>
              <a:t>RF Link Budget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3A293-D2FC-E2F4-29B1-5534B31D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RF Link Budget</a:t>
            </a:r>
          </a:p>
          <a:p>
            <a:pPr lvl="0"/>
            <a:r>
              <a:rPr lang="en-IN" dirty="0"/>
              <a:t>An RF link budget estimates the received signal power.</a:t>
            </a:r>
          </a:p>
          <a:p>
            <a:pPr lvl="0"/>
            <a:r>
              <a:rPr lang="en-IN" dirty="0"/>
              <a:t>It considers transmitter power, antenna gains and system losses.</a:t>
            </a:r>
          </a:p>
          <a:p>
            <a:pPr lvl="0"/>
            <a:r>
              <a:rPr lang="en-IN" dirty="0"/>
              <a:t>It is useful in wireless communication system design.</a:t>
            </a:r>
          </a:p>
          <a:p>
            <a:r>
              <a:rPr lang="en-IN" dirty="0"/>
              <a:t>Formula:</a:t>
            </a:r>
          </a:p>
          <a:p>
            <a:r>
              <a:rPr lang="en-IN" dirty="0"/>
              <a:t>Received Power (dBm) = Transmitted Power (dBm)</a:t>
            </a:r>
          </a:p>
          <a:p>
            <a:pPr lvl="0"/>
            <a:r>
              <a:rPr lang="en-IN" dirty="0"/>
              <a:t>Transmitter Gain (</a:t>
            </a:r>
            <a:r>
              <a:rPr lang="en-IN" dirty="0" err="1"/>
              <a:t>dBi</a:t>
            </a:r>
            <a:r>
              <a:rPr lang="en-IN" dirty="0"/>
              <a:t>)</a:t>
            </a:r>
          </a:p>
          <a:p>
            <a:pPr lvl="0"/>
            <a:r>
              <a:rPr lang="en-IN" dirty="0"/>
              <a:t>Receiver Gain (</a:t>
            </a:r>
            <a:r>
              <a:rPr lang="en-IN" dirty="0" err="1"/>
              <a:t>dBi</a:t>
            </a:r>
            <a:r>
              <a:rPr lang="en-IN" dirty="0"/>
              <a:t>)</a:t>
            </a:r>
          </a:p>
          <a:p>
            <a:pPr lvl="0"/>
            <a:r>
              <a:rPr lang="en-IN" dirty="0"/>
              <a:t>Total Losses (dB)</a:t>
            </a:r>
          </a:p>
          <a:p>
            <a:r>
              <a:rPr lang="en-IN" dirty="0"/>
              <a:t>Numerical Example:</a:t>
            </a:r>
          </a:p>
          <a:p>
            <a:r>
              <a:rPr lang="en-IN" dirty="0"/>
              <a:t>Transmitted Power = 20 dBm</a:t>
            </a:r>
            <a:br>
              <a:rPr lang="en-IN" dirty="0"/>
            </a:br>
            <a:r>
              <a:rPr lang="en-IN" dirty="0"/>
              <a:t>Transmitter Gain = 5 </a:t>
            </a:r>
            <a:r>
              <a:rPr lang="en-IN" dirty="0" err="1"/>
              <a:t>dBi</a:t>
            </a:r>
            <a:br>
              <a:rPr lang="en-IN" dirty="0"/>
            </a:br>
            <a:r>
              <a:rPr lang="en-IN" dirty="0"/>
              <a:t>Receiver Gain = 3 </a:t>
            </a:r>
            <a:r>
              <a:rPr lang="en-IN" dirty="0" err="1"/>
              <a:t>dBi</a:t>
            </a:r>
            <a:br>
              <a:rPr lang="en-IN" dirty="0"/>
            </a:br>
            <a:r>
              <a:rPr lang="en-IN" dirty="0"/>
              <a:t>Total Losses = 10 dB</a:t>
            </a:r>
          </a:p>
          <a:p>
            <a:r>
              <a:rPr lang="en-IN" dirty="0"/>
              <a:t>Received Power = 20 + 5 + 3 - 10</a:t>
            </a:r>
            <a:br>
              <a:rPr lang="en-IN" dirty="0"/>
            </a:br>
            <a:r>
              <a:rPr lang="en-IN" dirty="0"/>
              <a:t>Received Power = 18 dBm</a:t>
            </a:r>
          </a:p>
          <a:p>
            <a:r>
              <a:rPr lang="en-IN" dirty="0"/>
              <a:t>Result: Received signal power = 18 dBm.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54455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21994-1BD4-4B6A-07E1-AF8A4DDF9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0" y="579120"/>
            <a:ext cx="9037320" cy="792480"/>
          </a:xfrm>
        </p:spPr>
        <p:txBody>
          <a:bodyPr/>
          <a:lstStyle/>
          <a:p>
            <a:r>
              <a:rPr lang="en-IN" dirty="0"/>
              <a:t>AI Verification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2481DD-9F21-B6A3-D516-CF7FCA4423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IN" dirty="0"/>
              <a:t>AI Verification and Conclusion</a:t>
            </a:r>
          </a:p>
          <a:p>
            <a:r>
              <a:rPr lang="en-IN" dirty="0"/>
              <a:t>Role of AI:</a:t>
            </a:r>
          </a:p>
          <a:p>
            <a:pPr lvl="0"/>
            <a:r>
              <a:rPr lang="en-IN" dirty="0"/>
              <a:t>Explains RF concepts in beginner-friendly language.</a:t>
            </a:r>
          </a:p>
          <a:p>
            <a:pPr lvl="0"/>
            <a:r>
              <a:rPr lang="en-IN" dirty="0"/>
              <a:t>Helps generate numerical practice problems.</a:t>
            </a:r>
          </a:p>
          <a:p>
            <a:pPr lvl="0"/>
            <a:r>
              <a:rPr lang="en-IN" dirty="0"/>
              <a:t>Creates summaries, quizzes and study materials.</a:t>
            </a:r>
          </a:p>
          <a:p>
            <a:r>
              <a:rPr lang="en-IN" dirty="0"/>
              <a:t>Verification:</a:t>
            </a:r>
          </a:p>
          <a:p>
            <a:pPr lvl="0"/>
            <a:r>
              <a:rPr lang="en-IN" dirty="0"/>
              <a:t>Checked formulas and calculation steps manually.</a:t>
            </a:r>
          </a:p>
          <a:p>
            <a:pPr lvl="0"/>
            <a:r>
              <a:rPr lang="en-IN" dirty="0"/>
              <a:t>Verified units and assumptions.</a:t>
            </a:r>
          </a:p>
          <a:p>
            <a:pPr lvl="0"/>
            <a:r>
              <a:rPr lang="en-IN" dirty="0"/>
              <a:t>AI-generated answers should not be trusted without checking.</a:t>
            </a:r>
          </a:p>
          <a:p>
            <a:r>
              <a:rPr lang="en-IN" dirty="0"/>
              <a:t>Conclusion:</a:t>
            </a:r>
          </a:p>
          <a:p>
            <a:pPr lvl="0"/>
            <a:r>
              <a:rPr lang="en-IN" dirty="0"/>
              <a:t>AI can support learning antenna and RF concepts.</a:t>
            </a:r>
          </a:p>
          <a:p>
            <a:pPr lvl="0"/>
            <a:r>
              <a:rPr lang="en-IN" dirty="0"/>
              <a:t>Reliable references and manual calculations improve accuracy.</a:t>
            </a:r>
          </a:p>
          <a:p>
            <a:pPr lvl="0"/>
            <a:r>
              <a:rPr lang="en-IN" dirty="0"/>
              <a:t>Human verification is essential for correct results.</a:t>
            </a:r>
          </a:p>
          <a:p>
            <a:r>
              <a:rPr lang="en-IN" dirty="0"/>
              <a:t>Thank You!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48108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477</Words>
  <Application>Microsoft Office PowerPoint</Application>
  <PresentationFormat>Widescreen</PresentationFormat>
  <Paragraphs>62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AI Antenna and RF Concept Learning Assistant</vt:lpstr>
      <vt:lpstr>Introduction to Antenna and RF</vt:lpstr>
      <vt:lpstr>Dipole Antenna and Antenna Gain</vt:lpstr>
      <vt:lpstr> Impedance Matching and VSWR</vt:lpstr>
      <vt:lpstr>RF Link Budget</vt:lpstr>
      <vt:lpstr>AI Verification and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abisha7678@outlook.com</dc:creator>
  <cp:lastModifiedBy>abisha7678@outlook.com</cp:lastModifiedBy>
  <cp:revision>1</cp:revision>
  <dcterms:created xsi:type="dcterms:W3CDTF">2026-10-24T09:10:47Z</dcterms:created>
  <dcterms:modified xsi:type="dcterms:W3CDTF">2026-10-24T09:12:07Z</dcterms:modified>
</cp:coreProperties>
</file>